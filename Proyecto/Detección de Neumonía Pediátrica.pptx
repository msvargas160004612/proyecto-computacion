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glbQJRqWm01l1f+xef/MTfJmW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20DB1A-7AE9-4368-BD4A-193138EA5932}">
  <a:tblStyle styleId="{E720DB1A-7AE9-4368-BD4A-193138EA59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02B838FC-B2AC-472A-888E-579EFF71CCE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13805a22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13805a22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3805a222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13805a222_1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3805a22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13805a222_1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3805a22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13805a222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13805a222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13805a222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13805a222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13805a222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13805a222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13805a222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13805a222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913805a222_1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13805a222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913805a222_1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13805a222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913805a222_1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13805a222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13805a222_1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13805a222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913805a222_1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22.png"/><Relationship Id="rId10" Type="http://schemas.openxmlformats.org/officeDocument/2006/relationships/image" Target="../media/image24.png"/><Relationship Id="rId9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jpg"/><Relationship Id="rId4" Type="http://schemas.openxmlformats.org/officeDocument/2006/relationships/image" Target="../media/image2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g3913805a222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913805a222_1_0"/>
          <p:cNvSpPr txBox="1"/>
          <p:nvPr/>
        </p:nvSpPr>
        <p:spPr>
          <a:xfrm>
            <a:off x="1695450" y="1599307"/>
            <a:ext cx="8801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DETECCIÓN AUTOMATIZADA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NEUMONÍA PEDIÁTRICA</a:t>
            </a:r>
            <a:endParaRPr/>
          </a:p>
        </p:txBody>
      </p:sp>
      <p:sp>
        <p:nvSpPr>
          <p:cNvPr id="86" name="Google Shape;86;g3913805a222_1_0"/>
          <p:cNvSpPr txBox="1"/>
          <p:nvPr/>
        </p:nvSpPr>
        <p:spPr>
          <a:xfrm>
            <a:off x="1695450" y="2932807"/>
            <a:ext cx="8801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099CC"/>
                </a:solidFill>
                <a:latin typeface="Montserrat"/>
                <a:ea typeface="Montserrat"/>
                <a:cs typeface="Montserrat"/>
                <a:sym typeface="Montserrat"/>
              </a:rPr>
              <a:t>Uso de Redes Neuronales Convolucionales (CNN) y Radiografías de Tórax</a:t>
            </a:r>
            <a:endParaRPr/>
          </a:p>
        </p:txBody>
      </p:sp>
      <p:sp>
        <p:nvSpPr>
          <p:cNvPr id="87" name="Google Shape;87;g3913805a222_1_0"/>
          <p:cNvSpPr txBox="1"/>
          <p:nvPr/>
        </p:nvSpPr>
        <p:spPr>
          <a:xfrm>
            <a:off x="1905000" y="3761482"/>
            <a:ext cx="83820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Mayckoll Stheven Vargas (160004612)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William Yovany Fraile Bautista</a:t>
            </a: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(160004</a:t>
            </a:r>
            <a:r>
              <a:rPr lang="en-US" sz="16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629</a:t>
            </a: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 )</a:t>
            </a:r>
            <a:endParaRPr sz="1650">
              <a:solidFill>
                <a:srgbClr val="E2E8F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Jhon Alexander Barreto Delgado</a:t>
            </a: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(16000</a:t>
            </a:r>
            <a:r>
              <a:rPr lang="en-US" sz="1650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3906</a:t>
            </a:r>
            <a:r>
              <a:rPr b="0" i="0" lang="en-US" sz="1650" u="none" cap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/>
          </a:p>
        </p:txBody>
      </p:sp>
      <p:sp>
        <p:nvSpPr>
          <p:cNvPr id="88" name="Google Shape;88;g3913805a222_1_0"/>
          <p:cNvSpPr txBox="1"/>
          <p:nvPr/>
        </p:nvSpPr>
        <p:spPr>
          <a:xfrm>
            <a:off x="1905000" y="5276442"/>
            <a:ext cx="838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Universidad De Los Llanos | Facultad De Ciencias Básicas e Ingeniería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571500" y="762000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Motivación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71500" y="1400175"/>
            <a:ext cx="4953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571500" y="2609850"/>
            <a:ext cx="4953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 neumonía es una de las principales causas de mortalidad infantil a nivel mundial, con un impacto devastador en países en desarrollo.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57425"/>
            <a:ext cx="3492550" cy="417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800" y="2257425"/>
            <a:ext cx="3492550" cy="388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100" y="2257425"/>
            <a:ext cx="3492550" cy="38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904875" y="3181350"/>
            <a:ext cx="30170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Variabilidad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04875" y="3648075"/>
            <a:ext cx="2873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 interpretación de imágenes es subjetiva y propensa a la variabilidad inter-observador, lo que puede llevar a diagnósticos inconsistentes.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4683174" y="3181350"/>
            <a:ext cx="30170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683174" y="3648075"/>
            <a:ext cx="28734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análisis manual requiere tiempo valioso. En situaciones de emergencia, la rapidez del diagnóstico es un factor determinante.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461474" y="3181350"/>
            <a:ext cx="30170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461474" y="3648075"/>
            <a:ext cx="28734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 escasez de radiólogos especialistas en zonas rurales o desatendidas retrasa el inicio del tratamiento efectivo.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5622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74" y="25622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474" y="256222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8600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Justificación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8600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904875" y="2219325"/>
            <a:ext cx="4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Inteligencia Artificial (IA)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04875" y="3324225"/>
            <a:ext cx="4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Transfer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04875" y="4429125"/>
            <a:ext cx="490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Apoyo Clínico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383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432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4817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904875" y="2448600"/>
            <a:ext cx="1071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Desarrollar</a:t>
            </a:r>
            <a:r>
              <a:rPr b="0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904875" y="3429000"/>
            <a:ext cx="1071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Comparar</a:t>
            </a:r>
            <a:r>
              <a:rPr b="0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904875" y="4029075"/>
            <a:ext cx="1071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Implementar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04875" y="5121750"/>
            <a:ext cx="1071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Desplegar</a:t>
            </a:r>
            <a:r>
              <a:rPr b="0" i="0" lang="en-US" sz="20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4317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8288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1910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121750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8600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Conjunto de Datos (Dataset)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71500" y="231174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Fuente: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Kaggle - Chest X-Ray Images (Pneumonia).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71500" y="280704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Población: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Pacientes pediátricos (1-5 años).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71500" y="330234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Total de Imágenes: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5,863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p6"/>
          <p:cNvGraphicFramePr/>
          <p:nvPr/>
        </p:nvGraphicFramePr>
        <p:xfrm>
          <a:off x="571500" y="37976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{E720DB1A-7AE9-4368-BD4A-193138EA5932}</a:tableStyleId>
              </a:tblPr>
              <a:tblGrid>
                <a:gridCol w="3509675"/>
                <a:gridCol w="1729075"/>
              </a:tblGrid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Cantidad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Neumonía (Positivo)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4,273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 (Negativo)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1,583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6"/>
          <p:cNvSpPr txBox="1"/>
          <p:nvPr/>
        </p:nvSpPr>
        <p:spPr>
          <a:xfrm>
            <a:off x="571500" y="5388322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*Notablemente desbalanceado.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8600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571500" y="4783484"/>
            <a:ext cx="350966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081164" y="4783484"/>
            <a:ext cx="172908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62225"/>
            <a:ext cx="53816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2562225"/>
            <a:ext cx="538162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Preprocesamiento y Aumento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904875" y="3486150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Normalización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904875" y="395287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Todas las imágenes fueron redimensionadas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224x224 píxeles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y convertidas al espacio de color RGB para coincidir con la entrada de los modelos pre-entrenados.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572250" y="3486150"/>
            <a:ext cx="5000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Data Augmentation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6572250" y="395287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Para mitigar el overfitting, se aplicaron transformaciones aleatorias durante el entrenamiento: volteos, rotaciones, zoom y ajustes de contraste.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875" y="2867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2867025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Arquitecturas CNN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571500" y="29975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EfficientNetB0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571500" y="340712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Seleccionada por su eficiencia en la relación entre precisión y número de parámetros. Utiliza escalado compuesto de profundidad, ancho y resolución.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71500" y="4512022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Pesos iniciales: ImageNet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6381750" y="29975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DenseNet121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6381750" y="340712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Elegida por sus conexiones densas, que mejoran el flujo de gradientes y la reutilización de características, siendo muy popular en diagnósticos médicos.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381750" y="4512022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Pesos iniciales: ImageNet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g3913805a222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72879"/>
            <a:ext cx="3314700" cy="174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g3913805a222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650" y="3272879"/>
            <a:ext cx="3314700" cy="174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g3913805a222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3272879"/>
            <a:ext cx="3314700" cy="174099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13805a222_1_8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Diseño Experimental</a:t>
            </a:r>
            <a:endParaRPr/>
          </a:p>
        </p:txBody>
      </p:sp>
      <p:sp>
        <p:nvSpPr>
          <p:cNvPr id="192" name="Google Shape;192;g3913805a222_1_83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913805a222_1_83"/>
          <p:cNvSpPr/>
          <p:nvPr/>
        </p:nvSpPr>
        <p:spPr>
          <a:xfrm>
            <a:off x="571500" y="41433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913805a222_1_83"/>
          <p:cNvSpPr/>
          <p:nvPr/>
        </p:nvSpPr>
        <p:spPr>
          <a:xfrm>
            <a:off x="2133600" y="3368129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913805a222_1_83"/>
          <p:cNvSpPr txBox="1"/>
          <p:nvPr/>
        </p:nvSpPr>
        <p:spPr>
          <a:xfrm>
            <a:off x="588644" y="3653879"/>
            <a:ext cx="32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Fase 1: Selección</a:t>
            </a:r>
            <a:endParaRPr sz="2000"/>
          </a:p>
        </p:txBody>
      </p:sp>
      <p:sp>
        <p:nvSpPr>
          <p:cNvPr id="196" name="Google Shape;196;g3913805a222_1_83"/>
          <p:cNvSpPr txBox="1"/>
          <p:nvPr/>
        </p:nvSpPr>
        <p:spPr>
          <a:xfrm>
            <a:off x="666750" y="4269479"/>
            <a:ext cx="31242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Entrenamiento de ambos modelos (Train) y evaluación comparativa (Test).</a:t>
            </a:r>
            <a:endParaRPr sz="1800"/>
          </a:p>
        </p:txBody>
      </p:sp>
      <p:sp>
        <p:nvSpPr>
          <p:cNvPr id="197" name="Google Shape;197;g3913805a222_1_83"/>
          <p:cNvSpPr/>
          <p:nvPr/>
        </p:nvSpPr>
        <p:spPr>
          <a:xfrm>
            <a:off x="6000750" y="3272879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913805a222_1_83"/>
          <p:cNvSpPr txBox="1"/>
          <p:nvPr/>
        </p:nvSpPr>
        <p:spPr>
          <a:xfrm>
            <a:off x="4464325" y="3558626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Fase 2: Re-entrenamiento</a:t>
            </a:r>
            <a:endParaRPr sz="2000"/>
          </a:p>
        </p:txBody>
      </p:sp>
      <p:sp>
        <p:nvSpPr>
          <p:cNvPr id="199" name="Google Shape;199;g3913805a222_1_83"/>
          <p:cNvSpPr txBox="1"/>
          <p:nvPr/>
        </p:nvSpPr>
        <p:spPr>
          <a:xfrm>
            <a:off x="4533900" y="4364725"/>
            <a:ext cx="31242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modelo ganador (DenseNet121) se reentrena con el set combinado (Train + Test).</a:t>
            </a:r>
            <a:endParaRPr sz="1800"/>
          </a:p>
        </p:txBody>
      </p:sp>
      <p:sp>
        <p:nvSpPr>
          <p:cNvPr id="200" name="Google Shape;200;g3913805a222_1_83"/>
          <p:cNvSpPr/>
          <p:nvPr/>
        </p:nvSpPr>
        <p:spPr>
          <a:xfrm>
            <a:off x="9867900" y="3368129"/>
            <a:ext cx="190500" cy="190500"/>
          </a:xfrm>
          <a:prstGeom prst="roundRect">
            <a:avLst>
              <a:gd fmla="val 16667" name="adj"/>
            </a:avLst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913805a222_1_83"/>
          <p:cNvSpPr txBox="1"/>
          <p:nvPr/>
        </p:nvSpPr>
        <p:spPr>
          <a:xfrm>
            <a:off x="8322945" y="3653879"/>
            <a:ext cx="328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Fase 3: Validación Final</a:t>
            </a:r>
            <a:endParaRPr sz="2000"/>
          </a:p>
        </p:txBody>
      </p:sp>
      <p:sp>
        <p:nvSpPr>
          <p:cNvPr id="202" name="Google Shape;202;g3913805a222_1_83"/>
          <p:cNvSpPr txBox="1"/>
          <p:nvPr/>
        </p:nvSpPr>
        <p:spPr>
          <a:xfrm>
            <a:off x="8305800" y="4269479"/>
            <a:ext cx="31242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Evaluación estricta en el conjunto de Validación (16 imágenes) para métricas finales.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g3913805a222_1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818632"/>
            <a:ext cx="5238750" cy="76378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13805a222_1_10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Medidas de Desempeño</a:t>
            </a:r>
            <a:endParaRPr/>
          </a:p>
        </p:txBody>
      </p:sp>
      <p:sp>
        <p:nvSpPr>
          <p:cNvPr id="209" name="Google Shape;209;g3913805a222_1_101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913805a222_1_101"/>
          <p:cNvSpPr txBox="1"/>
          <p:nvPr/>
        </p:nvSpPr>
        <p:spPr>
          <a:xfrm>
            <a:off x="6381750" y="3418582"/>
            <a:ext cx="52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F1-Score</a:t>
            </a:r>
            <a:r>
              <a:rPr b="0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(Balance entre Precisión y Recall):</a:t>
            </a:r>
            <a:endParaRPr sz="1900"/>
          </a:p>
        </p:txBody>
      </p:sp>
      <p:sp>
        <p:nvSpPr>
          <p:cNvPr id="211" name="Google Shape;211;g3913805a222_1_101"/>
          <p:cNvSpPr txBox="1"/>
          <p:nvPr/>
        </p:nvSpPr>
        <p:spPr>
          <a:xfrm>
            <a:off x="1285875" y="2329025"/>
            <a:ext cx="45243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Exactitud (Accuracy):</a:t>
            </a:r>
            <a:r>
              <a:rPr b="0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Proporción total de predicciones correctas. Métrica de selección inicial.</a:t>
            </a:r>
            <a:endParaRPr sz="1800"/>
          </a:p>
        </p:txBody>
      </p:sp>
      <p:sp>
        <p:nvSpPr>
          <p:cNvPr id="212" name="Google Shape;212;g3913805a222_1_101"/>
          <p:cNvSpPr txBox="1"/>
          <p:nvPr/>
        </p:nvSpPr>
        <p:spPr>
          <a:xfrm>
            <a:off x="1285875" y="3876675"/>
            <a:ext cx="45243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Sensibilidad (Recall):</a:t>
            </a:r>
            <a:r>
              <a:rPr b="0" i="0" lang="en-US" sz="19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Capacidad para detectar casos positivos (Neumonía). Crítica en medicina para evitar Falsos Negativos.</a:t>
            </a:r>
            <a:endParaRPr sz="1800"/>
          </a:p>
        </p:txBody>
      </p:sp>
      <p:pic>
        <p:nvPicPr>
          <p:cNvPr descr="image.png" id="213" name="Google Shape;213;g3913805a222_1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39553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g3913805a222_1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89572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13805a222_1_11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Medidas de Desempeño</a:t>
            </a:r>
            <a:endParaRPr/>
          </a:p>
        </p:txBody>
      </p:sp>
      <p:sp>
        <p:nvSpPr>
          <p:cNvPr id="220" name="Google Shape;220;g3913805a222_1_112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1" name="Google Shape;221;g3913805a222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239553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g3913805a222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8957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913805a222_1_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850" y="1718975"/>
            <a:ext cx="7576875" cy="36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g3913805a222_1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913805a222_1_1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Resultados: Comparación de Modelos</a:t>
            </a:r>
            <a:endParaRPr/>
          </a:p>
        </p:txBody>
      </p:sp>
      <p:sp>
        <p:nvSpPr>
          <p:cNvPr id="230" name="Google Shape;230;g3913805a222_1_120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913805a222_1_120"/>
          <p:cNvSpPr txBox="1"/>
          <p:nvPr/>
        </p:nvSpPr>
        <p:spPr>
          <a:xfrm>
            <a:off x="571500" y="48101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DenseNet121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fue seleccionado como el modelo ganador para la fase final.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13805a222_1_12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Resultados Finales (Conjunto de Validación)</a:t>
            </a:r>
            <a:endParaRPr/>
          </a:p>
        </p:txBody>
      </p:sp>
      <p:sp>
        <p:nvSpPr>
          <p:cNvPr id="237" name="Google Shape;237;g3913805a222_1_127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13805a222_1_127"/>
          <p:cNvSpPr txBox="1"/>
          <p:nvPr/>
        </p:nvSpPr>
        <p:spPr>
          <a:xfrm>
            <a:off x="571500" y="2262187"/>
            <a:ext cx="1160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Desempeño del Modelo DenseNet121</a:t>
            </a:r>
            <a:endParaRPr/>
          </a:p>
        </p:txBody>
      </p:sp>
      <p:graphicFrame>
        <p:nvGraphicFramePr>
          <p:cNvPr id="239" name="Google Shape;239;g3913805a222_1_127"/>
          <p:cNvGraphicFramePr/>
          <p:nvPr/>
        </p:nvGraphicFramePr>
        <p:xfrm>
          <a:off x="571500" y="2652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{02B838FC-B2AC-472A-888E-579EFF71CCEE}</a:tableStyleId>
              </a:tblPr>
              <a:tblGrid>
                <a:gridCol w="1926725"/>
                <a:gridCol w="2046100"/>
                <a:gridCol w="7076175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Métrica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Interpretación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Exactitud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Alta fiabilidad global.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0.8750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Probabilidad de que un positivo sea real.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1.0000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Detectó el 100% de los casos de neumonía.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0.9412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Excelente balance general.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g3913805a222_1_127"/>
          <p:cNvSpPr/>
          <p:nvPr/>
        </p:nvSpPr>
        <p:spPr>
          <a:xfrm>
            <a:off x="571500" y="3829050"/>
            <a:ext cx="19266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913805a222_1_127"/>
          <p:cNvSpPr/>
          <p:nvPr/>
        </p:nvSpPr>
        <p:spPr>
          <a:xfrm>
            <a:off x="2498228" y="3829050"/>
            <a:ext cx="2046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913805a222_1_127"/>
          <p:cNvSpPr/>
          <p:nvPr/>
        </p:nvSpPr>
        <p:spPr>
          <a:xfrm>
            <a:off x="4544317" y="3829050"/>
            <a:ext cx="7076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913805a222_1_127"/>
          <p:cNvSpPr/>
          <p:nvPr/>
        </p:nvSpPr>
        <p:spPr>
          <a:xfrm>
            <a:off x="571500" y="4429125"/>
            <a:ext cx="19266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13805a222_1_127"/>
          <p:cNvSpPr/>
          <p:nvPr/>
        </p:nvSpPr>
        <p:spPr>
          <a:xfrm>
            <a:off x="2498228" y="4429125"/>
            <a:ext cx="2046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913805a222_1_127"/>
          <p:cNvSpPr/>
          <p:nvPr/>
        </p:nvSpPr>
        <p:spPr>
          <a:xfrm>
            <a:off x="4544317" y="4429125"/>
            <a:ext cx="7076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913805a222_1_127"/>
          <p:cNvSpPr/>
          <p:nvPr/>
        </p:nvSpPr>
        <p:spPr>
          <a:xfrm>
            <a:off x="571500" y="5029200"/>
            <a:ext cx="19266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913805a222_1_127"/>
          <p:cNvSpPr/>
          <p:nvPr/>
        </p:nvSpPr>
        <p:spPr>
          <a:xfrm>
            <a:off x="2498228" y="5029200"/>
            <a:ext cx="2046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913805a222_1_127"/>
          <p:cNvSpPr/>
          <p:nvPr/>
        </p:nvSpPr>
        <p:spPr>
          <a:xfrm>
            <a:off x="4544317" y="5029200"/>
            <a:ext cx="7076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913805a222_1_127"/>
          <p:cNvSpPr/>
          <p:nvPr/>
        </p:nvSpPr>
        <p:spPr>
          <a:xfrm>
            <a:off x="571500" y="5629275"/>
            <a:ext cx="19266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913805a222_1_127"/>
          <p:cNvSpPr/>
          <p:nvPr/>
        </p:nvSpPr>
        <p:spPr>
          <a:xfrm>
            <a:off x="2498228" y="5629275"/>
            <a:ext cx="20460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913805a222_1_127"/>
          <p:cNvSpPr/>
          <p:nvPr/>
        </p:nvSpPr>
        <p:spPr>
          <a:xfrm>
            <a:off x="4544317" y="5629275"/>
            <a:ext cx="70761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13805a222_1_14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Análisis de Errores: Matriz de Confusión</a:t>
            </a:r>
            <a:endParaRPr/>
          </a:p>
        </p:txBody>
      </p:sp>
      <p:sp>
        <p:nvSpPr>
          <p:cNvPr id="257" name="Google Shape;257;g3913805a222_1_146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913805a222_1_146"/>
          <p:cNvSpPr txBox="1"/>
          <p:nvPr/>
        </p:nvSpPr>
        <p:spPr>
          <a:xfrm>
            <a:off x="6381750" y="2509837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Discusión</a:t>
            </a:r>
            <a:endParaRPr/>
          </a:p>
        </p:txBody>
      </p:sp>
      <p:sp>
        <p:nvSpPr>
          <p:cNvPr id="259" name="Google Shape;259;g3913805a222_1_146"/>
          <p:cNvSpPr txBox="1"/>
          <p:nvPr/>
        </p:nvSpPr>
        <p:spPr>
          <a:xfrm>
            <a:off x="7096125" y="2881312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0 Falsos Negativos: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El modelo no omitió ningún caso de enfermedad, lo cual es el escenario ideal en tamizaje médico.</a:t>
            </a:r>
            <a:endParaRPr/>
          </a:p>
        </p:txBody>
      </p:sp>
      <p:sp>
        <p:nvSpPr>
          <p:cNvPr id="260" name="Google Shape;260;g3913805a222_1_146"/>
          <p:cNvSpPr txBox="1"/>
          <p:nvPr/>
        </p:nvSpPr>
        <p:spPr>
          <a:xfrm>
            <a:off x="7096125" y="3986212"/>
            <a:ext cx="4524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Falso Positivo: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Un paciente sano fue clasificado como enfermo. Clínicamente es preferible, ya que conlleva a exámenes confirmatorios, a diferencia de no tratar a un enfermo.</a:t>
            </a:r>
            <a:endParaRPr/>
          </a:p>
        </p:txBody>
      </p:sp>
      <p:sp>
        <p:nvSpPr>
          <p:cNvPr id="261" name="Google Shape;261;g3913805a222_1_146"/>
          <p:cNvSpPr/>
          <p:nvPr/>
        </p:nvSpPr>
        <p:spPr>
          <a:xfrm>
            <a:off x="571500" y="4233862"/>
            <a:ext cx="1596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913805a222_1_146"/>
          <p:cNvSpPr/>
          <p:nvPr/>
        </p:nvSpPr>
        <p:spPr>
          <a:xfrm>
            <a:off x="2168276" y="4233862"/>
            <a:ext cx="1705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913805a222_1_146"/>
          <p:cNvSpPr/>
          <p:nvPr/>
        </p:nvSpPr>
        <p:spPr>
          <a:xfrm>
            <a:off x="3873400" y="4233862"/>
            <a:ext cx="1936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13805a222_1_146"/>
          <p:cNvSpPr/>
          <p:nvPr/>
        </p:nvSpPr>
        <p:spPr>
          <a:xfrm>
            <a:off x="571500" y="5138737"/>
            <a:ext cx="1596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913805a222_1_146"/>
          <p:cNvSpPr/>
          <p:nvPr/>
        </p:nvSpPr>
        <p:spPr>
          <a:xfrm>
            <a:off x="2168276" y="5138737"/>
            <a:ext cx="1705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913805a222_1_146"/>
          <p:cNvSpPr/>
          <p:nvPr/>
        </p:nvSpPr>
        <p:spPr>
          <a:xfrm>
            <a:off x="3873400" y="5138737"/>
            <a:ext cx="19368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7" name="Google Shape;267;g3913805a222_1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29003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g3913805a222_1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0" y="40052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913805a222_1_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75" y="1352550"/>
            <a:ext cx="5586375" cy="52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g3913805a222_1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00387"/>
            <a:ext cx="21336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g3913805a222_1_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4250" y="3100387"/>
            <a:ext cx="21907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g3913805a222_1_1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3100387"/>
            <a:ext cx="213360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g3913805a222_1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00" y="3100387"/>
            <a:ext cx="21336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913805a222_1_16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Flujo del Sistema</a:t>
            </a:r>
            <a:endParaRPr/>
          </a:p>
        </p:txBody>
      </p:sp>
      <p:sp>
        <p:nvSpPr>
          <p:cNvPr id="279" name="Google Shape;279;g3913805a222_1_163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913805a222_1_163"/>
          <p:cNvSpPr txBox="1"/>
          <p:nvPr/>
        </p:nvSpPr>
        <p:spPr>
          <a:xfrm>
            <a:off x="904875" y="4024312"/>
            <a:ext cx="151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Imagen RX</a:t>
            </a:r>
            <a:endParaRPr/>
          </a:p>
        </p:txBody>
      </p:sp>
      <p:pic>
        <p:nvPicPr>
          <p:cNvPr descr="image.png" id="281" name="Google Shape;281;g3913805a222_1_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90850" y="380047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913805a222_1_163"/>
          <p:cNvSpPr txBox="1"/>
          <p:nvPr/>
        </p:nvSpPr>
        <p:spPr>
          <a:xfrm>
            <a:off x="3857625" y="4024312"/>
            <a:ext cx="157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Preprocesamiento</a:t>
            </a:r>
            <a:endParaRPr/>
          </a:p>
        </p:txBody>
      </p:sp>
      <p:pic>
        <p:nvPicPr>
          <p:cNvPr descr="image.png" id="283" name="Google Shape;283;g3913805a222_1_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0" y="380047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913805a222_1_163"/>
          <p:cNvSpPr txBox="1"/>
          <p:nvPr/>
        </p:nvSpPr>
        <p:spPr>
          <a:xfrm>
            <a:off x="6867525" y="4024312"/>
            <a:ext cx="151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DenseNet121</a:t>
            </a:r>
            <a:endParaRPr/>
          </a:p>
        </p:txBody>
      </p:sp>
      <p:pic>
        <p:nvPicPr>
          <p:cNvPr descr="image.png" id="285" name="Google Shape;285;g3913805a222_1_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0" y="3800475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913805a222_1_163"/>
          <p:cNvSpPr txBox="1"/>
          <p:nvPr/>
        </p:nvSpPr>
        <p:spPr>
          <a:xfrm>
            <a:off x="9820275" y="4024312"/>
            <a:ext cx="151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Diagnóstico</a:t>
            </a:r>
            <a:endParaRPr/>
          </a:p>
        </p:txBody>
      </p:sp>
      <p:pic>
        <p:nvPicPr>
          <p:cNvPr descr="image.png" id="287" name="Google Shape;287;g3913805a222_1_1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9237" y="340518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g3913805a222_1_1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9125" y="34051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g3913805a222_1_1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34262" y="34051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g3913805a222_1_1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34637" y="3405187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13805a222_1_183"/>
          <p:cNvSpPr txBox="1"/>
          <p:nvPr/>
        </p:nvSpPr>
        <p:spPr>
          <a:xfrm>
            <a:off x="571500" y="762000"/>
            <a:ext cx="520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Interfaz de Despliegue</a:t>
            </a:r>
            <a:endParaRPr/>
          </a:p>
        </p:txBody>
      </p:sp>
      <p:sp>
        <p:nvSpPr>
          <p:cNvPr id="296" name="Google Shape;296;g3913805a222_1_183"/>
          <p:cNvSpPr/>
          <p:nvPr/>
        </p:nvSpPr>
        <p:spPr>
          <a:xfrm>
            <a:off x="571500" y="1400175"/>
            <a:ext cx="4953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913805a222_1_183"/>
          <p:cNvSpPr txBox="1"/>
          <p:nvPr/>
        </p:nvSpPr>
        <p:spPr>
          <a:xfrm>
            <a:off x="571500" y="2247900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Para la aplicación práctica, se desarrolló una API utilizando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Flask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ngrok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98" name="Google Shape;298;g3913805a222_1_183"/>
          <p:cNvSpPr txBox="1"/>
          <p:nvPr/>
        </p:nvSpPr>
        <p:spPr>
          <a:xfrm>
            <a:off x="571500" y="3409950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 interfaz web permite al personal médico:</a:t>
            </a:r>
            <a:endParaRPr/>
          </a:p>
        </p:txBody>
      </p:sp>
      <p:sp>
        <p:nvSpPr>
          <p:cNvPr id="299" name="Google Shape;299;g3913805a222_1_183"/>
          <p:cNvSpPr txBox="1"/>
          <p:nvPr/>
        </p:nvSpPr>
        <p:spPr>
          <a:xfrm>
            <a:off x="904875" y="4057650"/>
            <a:ext cx="46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Cargar radiografías digitales fácilmente.</a:t>
            </a:r>
            <a:endParaRPr/>
          </a:p>
        </p:txBody>
      </p:sp>
      <p:sp>
        <p:nvSpPr>
          <p:cNvPr id="300" name="Google Shape;300;g3913805a222_1_183"/>
          <p:cNvSpPr txBox="1"/>
          <p:nvPr/>
        </p:nvSpPr>
        <p:spPr>
          <a:xfrm>
            <a:off x="904875" y="4552950"/>
            <a:ext cx="4619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Recibir una predicción inmediata (Normal vs Neumonía).</a:t>
            </a:r>
            <a:endParaRPr/>
          </a:p>
        </p:txBody>
      </p:sp>
      <p:sp>
        <p:nvSpPr>
          <p:cNvPr id="301" name="Google Shape;301;g3913805a222_1_183"/>
          <p:cNvSpPr txBox="1"/>
          <p:nvPr/>
        </p:nvSpPr>
        <p:spPr>
          <a:xfrm>
            <a:off x="904875" y="5353050"/>
            <a:ext cx="46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Visualizar el porcentaje de confianza del modelo.</a:t>
            </a:r>
            <a:endParaRPr/>
          </a:p>
        </p:txBody>
      </p:sp>
      <p:pic>
        <p:nvPicPr>
          <p:cNvPr descr="image.png" id="302" name="Google Shape;302;g3913805a222_1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767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g3913805a222_1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g3913805a222_1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37210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913805a222_1_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2150" y="0"/>
            <a:ext cx="641985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13805a222_1_197"/>
          <p:cNvSpPr txBox="1"/>
          <p:nvPr/>
        </p:nvSpPr>
        <p:spPr>
          <a:xfrm>
            <a:off x="571500" y="762000"/>
            <a:ext cx="520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Interfaz de Despliegue</a:t>
            </a:r>
            <a:endParaRPr/>
          </a:p>
        </p:txBody>
      </p:sp>
      <p:sp>
        <p:nvSpPr>
          <p:cNvPr id="311" name="Google Shape;311;g3913805a222_1_197"/>
          <p:cNvSpPr/>
          <p:nvPr/>
        </p:nvSpPr>
        <p:spPr>
          <a:xfrm>
            <a:off x="571500" y="1400175"/>
            <a:ext cx="4953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3913805a222_1_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38" y="1582050"/>
            <a:ext cx="5838724" cy="377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913805a222_1_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4525" y="1571837"/>
            <a:ext cx="5838725" cy="379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g3913805a222_1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24112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g3913805a222_1_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24112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g3913805a222_1_2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24112"/>
            <a:ext cx="3492549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913805a222_1_20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/>
          </a:p>
        </p:txBody>
      </p:sp>
      <p:sp>
        <p:nvSpPr>
          <p:cNvPr id="322" name="Google Shape;322;g3913805a222_1_204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913805a222_1_204"/>
          <p:cNvSpPr txBox="1"/>
          <p:nvPr/>
        </p:nvSpPr>
        <p:spPr>
          <a:xfrm>
            <a:off x="904875" y="2709862"/>
            <a:ext cx="30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Alta Eficacia</a:t>
            </a:r>
            <a:endParaRPr/>
          </a:p>
        </p:txBody>
      </p:sp>
      <p:sp>
        <p:nvSpPr>
          <p:cNvPr id="324" name="Google Shape;324;g3913805a222_1_204"/>
          <p:cNvSpPr txBox="1"/>
          <p:nvPr/>
        </p:nvSpPr>
        <p:spPr>
          <a:xfrm>
            <a:off x="904875" y="3176587"/>
            <a:ext cx="2873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Los resultados validan que las CNNs, específicamente DenseNet121, son herramientas altamente efectivas para la clasificación de patologías pulmonares.</a:t>
            </a:r>
            <a:endParaRPr/>
          </a:p>
        </p:txBody>
      </p:sp>
      <p:sp>
        <p:nvSpPr>
          <p:cNvPr id="325" name="Google Shape;325;g3913805a222_1_204"/>
          <p:cNvSpPr txBox="1"/>
          <p:nvPr/>
        </p:nvSpPr>
        <p:spPr>
          <a:xfrm>
            <a:off x="4683174" y="2709862"/>
            <a:ext cx="30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Seguridad Clínica</a:t>
            </a:r>
            <a:endParaRPr/>
          </a:p>
        </p:txBody>
      </p:sp>
      <p:sp>
        <p:nvSpPr>
          <p:cNvPr id="326" name="Google Shape;326;g3913805a222_1_204"/>
          <p:cNvSpPr txBox="1"/>
          <p:nvPr/>
        </p:nvSpPr>
        <p:spPr>
          <a:xfrm>
            <a:off x="4683174" y="3176587"/>
            <a:ext cx="2873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logro de un Recall de 1.0 demuestra que el sistema es seguro para el tamizaje, minimizando el riesgo de dejar pacientes sin diagnosticar.</a:t>
            </a:r>
            <a:endParaRPr/>
          </a:p>
        </p:txBody>
      </p:sp>
      <p:sp>
        <p:nvSpPr>
          <p:cNvPr id="327" name="Google Shape;327;g3913805a222_1_204"/>
          <p:cNvSpPr txBox="1"/>
          <p:nvPr/>
        </p:nvSpPr>
        <p:spPr>
          <a:xfrm>
            <a:off x="8461474" y="2709862"/>
            <a:ext cx="30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Accesibilidad</a:t>
            </a:r>
            <a:endParaRPr/>
          </a:p>
        </p:txBody>
      </p:sp>
      <p:sp>
        <p:nvSpPr>
          <p:cNvPr id="328" name="Google Shape;328;g3913805a222_1_204"/>
          <p:cNvSpPr txBox="1"/>
          <p:nvPr/>
        </p:nvSpPr>
        <p:spPr>
          <a:xfrm>
            <a:off x="8461474" y="3176587"/>
            <a:ext cx="28734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 implementación web demuestra que estos modelos complejos pueden ser empaquetados en herramientas simples y accesibles para el personal de salud.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13805a222_1_218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Referencias Seleccionadas</a:t>
            </a:r>
            <a:endParaRPr/>
          </a:p>
        </p:txBody>
      </p:sp>
      <p:sp>
        <p:nvSpPr>
          <p:cNvPr id="334" name="Google Shape;334;g3913805a222_1_218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913805a222_1_218"/>
          <p:cNvSpPr txBox="1"/>
          <p:nvPr/>
        </p:nvSpPr>
        <p:spPr>
          <a:xfrm>
            <a:off x="904875" y="30384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Mooney, P.T. (2018).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Chest X-Ray Images (Pneumonia)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 Kaggle Dataset.</a:t>
            </a:r>
            <a:endParaRPr/>
          </a:p>
        </p:txBody>
      </p:sp>
      <p:sp>
        <p:nvSpPr>
          <p:cNvPr id="336" name="Google Shape;336;g3913805a222_1_218"/>
          <p:cNvSpPr txBox="1"/>
          <p:nvPr/>
        </p:nvSpPr>
        <p:spPr>
          <a:xfrm>
            <a:off x="904875" y="35337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Huang, G., et al. (2017).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Densely Connected Convolutional Networks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 CVPR.</a:t>
            </a:r>
            <a:endParaRPr/>
          </a:p>
        </p:txBody>
      </p:sp>
      <p:sp>
        <p:nvSpPr>
          <p:cNvPr id="337" name="Google Shape;337;g3913805a222_1_218"/>
          <p:cNvSpPr txBox="1"/>
          <p:nvPr/>
        </p:nvSpPr>
        <p:spPr>
          <a:xfrm>
            <a:off x="904875" y="40290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Tan, M., &amp; Le, Q. (2019).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EfficientNet: Rethinking Model Scaling for Convolutional Neural Networks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 ICML.</a:t>
            </a:r>
            <a:endParaRPr/>
          </a:p>
        </p:txBody>
      </p:sp>
      <p:sp>
        <p:nvSpPr>
          <p:cNvPr id="338" name="Google Shape;338;g3913805a222_1_218"/>
          <p:cNvSpPr txBox="1"/>
          <p:nvPr/>
        </p:nvSpPr>
        <p:spPr>
          <a:xfrm>
            <a:off x="904875" y="45243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Wang, X., et al. (2017).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ChestX-ray8: Hospital-scale Chest X-ray Database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 CVPR.</a:t>
            </a:r>
            <a:endParaRPr/>
          </a:p>
        </p:txBody>
      </p:sp>
      <p:pic>
        <p:nvPicPr>
          <p:cNvPr descr="image.png" id="339" name="Google Shape;339;g3913805a222_1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575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g3913805a222_1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528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g3913805a222_1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481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g3913805a222_1_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43425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9"/>
          <p:cNvSpPr txBox="1"/>
          <p:nvPr/>
        </p:nvSpPr>
        <p:spPr>
          <a:xfrm>
            <a:off x="4075747" y="2414587"/>
            <a:ext cx="404050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5095875" y="3948112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571500" y="27708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571500" y="35556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571500" y="43404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571500" y="51251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0" name="Google Shape;3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460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0"/>
          <p:cNvSpPr txBox="1"/>
          <p:nvPr/>
        </p:nvSpPr>
        <p:spPr>
          <a:xfrm>
            <a:off x="1666875" y="194042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https://media.istockphoto.com/id/1388388697/photo/medical-science-hospital-confident-black-female-neurologist-neuroscientist-neurosurgeon-looks.jpg?s=612x612&amp;w=0&amp;k=20&amp;c=AiPLlUF5GS5E7cKEOYDul0IN4q__6OL6NBl02gZYwHI=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1666875" y="23842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www.istockphoto.com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3" name="Google Shape;3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98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0"/>
          <p:cNvSpPr txBox="1"/>
          <p:nvPr/>
        </p:nvSpPr>
        <p:spPr>
          <a:xfrm>
            <a:off x="1666875" y="29232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https://www.mdpi.com/information/information-16-00195/article_deploy/html/images/information-16-00195-g001.png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66875" y="31689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www.mdpi.com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6" name="Google Shape;3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146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 txBox="1"/>
          <p:nvPr/>
        </p:nvSpPr>
        <p:spPr>
          <a:xfrm>
            <a:off x="1666875" y="37080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https://i.imgur.com/jZqpV51.png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1666875" y="39537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www.kaggle.com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93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0"/>
          <p:cNvSpPr txBox="1"/>
          <p:nvPr/>
        </p:nvSpPr>
        <p:spPr>
          <a:xfrm>
            <a:off x="1666875" y="44928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https://uizard.io/static/c0b030d8927f5d675380003e4c72aa05/a8e47/a8dfd3d4ee3eb542cb5008cb1154d6110972e54a-1440x835.png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1666875" y="47385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uizard.io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2" name="Google Shape;37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83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0"/>
          <p:cNvSpPr txBox="1"/>
          <p:nvPr/>
        </p:nvSpPr>
        <p:spPr>
          <a:xfrm>
            <a:off x="1666875" y="5277594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https://static.vecteezy.com/system/resources/thumbnails/025/871/365/small_2x/blue-medical-health-abstract-background-with-plus-sign-template-design-with-concept-and-idea-for-healthcare-technology-innovation-medicine-health-science-and-research-vector.jpg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1666875" y="572139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